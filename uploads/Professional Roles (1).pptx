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1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8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9;p2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215080" y="1276200"/>
            <a:ext cx="6323400" cy="2452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47;p11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284120" y="1953000"/>
            <a:ext cx="6575760" cy="7992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52;p13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86552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186552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title"/>
          </p:nvPr>
        </p:nvSpPr>
        <p:spPr>
          <a:xfrm>
            <a:off x="1866600" y="19335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title"/>
          </p:nvPr>
        </p:nvSpPr>
        <p:spPr>
          <a:xfrm>
            <a:off x="186552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title"/>
          </p:nvPr>
        </p:nvSpPr>
        <p:spPr>
          <a:xfrm>
            <a:off x="5622840" y="2579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title"/>
          </p:nvPr>
        </p:nvSpPr>
        <p:spPr>
          <a:xfrm>
            <a:off x="5622840" y="32259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7"/>
          <p:cNvSpPr>
            <a:spLocks noGrp="1"/>
          </p:cNvSpPr>
          <p:nvPr>
            <p:ph type="title"/>
          </p:nvPr>
        </p:nvSpPr>
        <p:spPr>
          <a:xfrm>
            <a:off x="5622840" y="38721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8"/>
          <p:cNvSpPr>
            <a:spLocks noGrp="1"/>
          </p:cNvSpPr>
          <p:nvPr>
            <p:ph type="title"/>
          </p:nvPr>
        </p:nvSpPr>
        <p:spPr>
          <a:xfrm>
            <a:off x="5622840" y="19335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9"/>
          <p:cNvSpPr>
            <a:spLocks noGrp="1"/>
          </p:cNvSpPr>
          <p:nvPr>
            <p:ph type="title"/>
          </p:nvPr>
        </p:nvSpPr>
        <p:spPr>
          <a:xfrm>
            <a:off x="4498920" y="274680"/>
            <a:ext cx="4416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71;p1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19040" y="471600"/>
            <a:ext cx="7486560" cy="1204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75;p1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28600" y="297720"/>
            <a:ext cx="5320440" cy="125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943560" y="2308320"/>
            <a:ext cx="4358520" cy="191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80;p1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28600" y="300600"/>
            <a:ext cx="215496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83;p1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313880" y="301320"/>
            <a:ext cx="4596120" cy="749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86;p1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333440" y="27090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title"/>
          </p:nvPr>
        </p:nvSpPr>
        <p:spPr>
          <a:xfrm>
            <a:off x="1333440" y="1585800"/>
            <a:ext cx="67752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1333440" y="3832200"/>
            <a:ext cx="6786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228600" y="297720"/>
            <a:ext cx="2022120" cy="802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95;p1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929840" y="300600"/>
            <a:ext cx="3985200" cy="760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722196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title"/>
          </p:nvPr>
        </p:nvSpPr>
        <p:spPr>
          <a:xfrm>
            <a:off x="722196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4550400" y="1778760"/>
            <a:ext cx="86400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title"/>
          </p:nvPr>
        </p:nvSpPr>
        <p:spPr>
          <a:xfrm>
            <a:off x="454968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title"/>
          </p:nvPr>
        </p:nvSpPr>
        <p:spPr>
          <a:xfrm>
            <a:off x="1877400" y="177840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title"/>
          </p:nvPr>
        </p:nvSpPr>
        <p:spPr>
          <a:xfrm>
            <a:off x="1877400" y="3506760"/>
            <a:ext cx="865440" cy="31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2000" b="0" u="none" strike="noStrike">
                <a:solidFill>
                  <a:schemeClr val="accent3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110;p20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21360" y="95652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21360" y="3141000"/>
            <a:ext cx="5447520" cy="75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80000"/>
              </a:lnSpc>
              <a:buNone/>
            </a:pPr>
            <a:r>
              <a:rPr lang="fr-FR" sz="4500" b="0" u="none" strike="noStrike">
                <a:solidFill>
                  <a:schemeClr val="accent3"/>
                </a:solidFill>
                <a:effectLst/>
                <a:uFillTx/>
                <a:latin typeface="Zalando Sans Expanded ExtraLight"/>
                <a:ea typeface="Zalando Sans Expanded ExtraLigh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13;p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2662560" y="3397680"/>
            <a:ext cx="6134400" cy="1059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title"/>
          </p:nvPr>
        </p:nvSpPr>
        <p:spPr>
          <a:xfrm>
            <a:off x="332280" y="228600"/>
            <a:ext cx="1267920" cy="1269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80000"/>
              </a:lnSpc>
              <a:buNone/>
            </a:pPr>
            <a:r>
              <a:rPr lang="fr-FR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116;p21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547600" y="363600"/>
            <a:ext cx="3367440" cy="1613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Google Shape;119;p21"/>
          <p:cNvSpPr/>
          <p:nvPr/>
        </p:nvSpPr>
        <p:spPr>
          <a:xfrm>
            <a:off x="1965600" y="4008240"/>
            <a:ext cx="387144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1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CREDITS: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This presentation template was created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2"/>
              </a:rPr>
              <a:t>Slidesgo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, and includes icons, infographics &amp; images by </a:t>
            </a:r>
            <a:r>
              <a:rPr lang="en" sz="1000" b="1" u="sng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  <a:hlinkClick r:id="rId3"/>
              </a:rPr>
              <a:t>Freepik</a:t>
            </a: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121;p22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123;p23"/>
          <p:cNvSpPr/>
          <p:nvPr/>
        </p:nvSpPr>
        <p:spPr>
          <a:xfrm>
            <a:off x="0" y="-8280"/>
            <a:ext cx="9143640" cy="5159520"/>
          </a:xfrm>
          <a:prstGeom prst="rect">
            <a:avLst/>
          </a:prstGeom>
          <a:solidFill>
            <a:srgbClr val="4F5B4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17;p4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720000" y="115236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21;p5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6939000" y="294840"/>
            <a:ext cx="1976040" cy="745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28;p6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27468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31;p7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399816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609560" y="2066040"/>
            <a:ext cx="3823920" cy="253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5715720" y="0"/>
            <a:ext cx="342792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lnSpcReduction="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36;p8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388160" y="1307160"/>
            <a:ext cx="63673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39;p9"/>
          <p:cNvSpPr/>
          <p:nvPr/>
        </p:nvSpPr>
        <p:spPr>
          <a:xfrm>
            <a:off x="0" y="0"/>
            <a:ext cx="9143640" cy="51595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" name="PlaceHolder 2"/>
          <p:cNvSpPr>
            <a:spLocks noGrp="1"/>
          </p:cNvSpPr>
          <p:nvPr>
            <p:ph type="title"/>
          </p:nvPr>
        </p:nvSpPr>
        <p:spPr>
          <a:xfrm>
            <a:off x="228600" y="4521240"/>
            <a:ext cx="2822400" cy="39312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129;p26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132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oogle Shape;139;p28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74" name="Google Shape;140;p28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75" name="Google Shape;141;p28"/>
            <p:cNvCxnSpPr/>
            <p:nvPr/>
          </p:nvCxnSpPr>
          <p:spPr>
            <a:xfrm flipH="1">
              <a:off x="1524600" y="393948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219400" y="1276200"/>
            <a:ext cx="6324120" cy="2457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6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Professional</a:t>
            </a:r>
            <a:r>
              <a:rPr lang="en-US" sz="83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Roles</a:t>
            </a:r>
            <a:endParaRPr lang="fr-FR" sz="83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ubTitle"/>
          </p:nvPr>
        </p:nvSpPr>
        <p:spPr>
          <a:xfrm>
            <a:off x="5934240" y="4219560"/>
            <a:ext cx="2609640" cy="561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The basis for effective collaboration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" name="Google Shape;144;p28"/>
          <p:cNvSpPr/>
          <p:nvPr/>
        </p:nvSpPr>
        <p:spPr>
          <a:xfrm>
            <a:off x="4665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2XXX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80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81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Introduction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Understanding the role and the respect and dignity involved in professional interactions is essential for a thriving work environment. These elements shape communication, teamwork, and overall organizational success.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85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86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19999"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Role in Professional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Interactions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01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91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92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Importance of Clear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Roles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Clear roles define each member’s function, reducing confusion and overlap. They enable efficient task allocation and accountability, fostering smoother cooperation and minimizing conflicts within teams.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Responsibilities and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Expectations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42840" y="2305080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Understanding responsibilities and expectations ensures individuals meet their duties effectively. Knowing what is expected promotes professionalism, supports performance evaluation, and encourages personal and collective growth.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8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99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01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02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Impact on Team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Dynamics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Roles clearly communicated and adhered to enhance team cohesion and trust. This clarity reduces conflicts and duplication of efforts, promoting efficiency. When everyones contributions are recognized, it supports a collaborative atmosphere where </a:t>
            </a:r>
            <a:r>
              <a:rPr lang="en-US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shared goals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are prioritized and productivity is maximized.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26;p32"/>
          <p:cNvGrpSpPr/>
          <p:nvPr/>
        </p:nvGrpSpPr>
        <p:grpSpPr>
          <a:xfrm>
            <a:off x="1870200" y="-18360"/>
            <a:ext cx="7335000" cy="5223960"/>
            <a:chOff x="1870200" y="-18360"/>
            <a:chExt cx="7335000" cy="5223960"/>
          </a:xfrm>
        </p:grpSpPr>
        <p:cxnSp>
          <p:nvCxnSpPr>
            <p:cNvPr id="106" name="Google Shape;227;p32"/>
            <p:cNvCxnSpPr/>
            <p:nvPr/>
          </p:nvCxnSpPr>
          <p:spPr>
            <a:xfrm>
              <a:off x="188208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07" name="Google Shape;228;p32"/>
            <p:cNvCxnSpPr/>
            <p:nvPr/>
          </p:nvCxnSpPr>
          <p:spPr>
            <a:xfrm flipH="1">
              <a:off x="1870200" y="2844000"/>
              <a:ext cx="73353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666880" y="3400560"/>
            <a:ext cx="6133680" cy="1056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2500" lnSpcReduction="19999"/>
          </a:bodyPr>
          <a:lstStyle/>
          <a:p>
            <a:pPr indent="0" algn="r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Respect and Dignity in the</a:t>
            </a:r>
            <a:r>
              <a:rPr lang="en-US" sz="4600" b="0" u="none" strike="noStrike">
                <a:solidFill>
                  <a:schemeClr val="accent1"/>
                </a:solidFill>
                <a:effectLst/>
                <a:uFillTx/>
                <a:latin typeface="Zalando Sans Expanded Medium"/>
                <a:ea typeface="Zalando Sans Expanded ExtraLight"/>
              </a:rPr>
              <a:t> Workplace</a:t>
            </a:r>
            <a:endParaRPr lang="fr-FR" sz="4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title"/>
          </p:nvPr>
        </p:nvSpPr>
        <p:spPr>
          <a:xfrm>
            <a:off x="333360" y="228600"/>
            <a:ext cx="1266480" cy="1266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accent2"/>
                </a:solidFill>
                <a:effectLst/>
                <a:uFillTx/>
                <a:latin typeface="Zalando Sans Expanded Medium"/>
                <a:ea typeface="Zalando Sans Expanded Medium"/>
              </a:rPr>
              <a:t>02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231;p32"/>
          <p:cNvSpPr/>
          <p:nvPr/>
        </p:nvSpPr>
        <p:spPr>
          <a:xfrm>
            <a:off x="81723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199800" rIns="870823080" bIns="19980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12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3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Defining Respect and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Dignity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Respect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is acknowledging the value and rights of others, while </a:t>
            </a:r>
            <a:r>
              <a:rPr lang="en-US" sz="1200" b="0" i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dignity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relates to treating individuals as inherently worthy. Together, they create an environment where professionals feel safe, valued, and motivated to contribute fully to organizational success.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236;p33"/>
          <p:cNvGrpSpPr/>
          <p:nvPr/>
        </p:nvGrpSpPr>
        <p:grpSpPr>
          <a:xfrm>
            <a:off x="-43560" y="-18360"/>
            <a:ext cx="8695080" cy="5223960"/>
            <a:chOff x="-43560" y="-18360"/>
            <a:chExt cx="8695080" cy="5223960"/>
          </a:xfrm>
        </p:grpSpPr>
        <p:cxnSp>
          <p:nvCxnSpPr>
            <p:cNvPr id="117" name="Google Shape;237;p33"/>
            <p:cNvCxnSpPr/>
            <p:nvPr/>
          </p:nvCxnSpPr>
          <p:spPr>
            <a:xfrm>
              <a:off x="8646120" y="-18360"/>
              <a:ext cx="360" cy="522432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  <p:cxnSp>
          <p:nvCxnSpPr>
            <p:cNvPr id="118" name="Google Shape;238;p33"/>
            <p:cNvCxnSpPr/>
            <p:nvPr/>
          </p:nvCxnSpPr>
          <p:spPr>
            <a:xfrm flipH="1">
              <a:off x="-43560" y="2094120"/>
              <a:ext cx="8695440" cy="360"/>
            </a:xfrm>
            <a:prstGeom prst="straightConnector1">
              <a:avLst/>
            </a:prstGeom>
            <a:ln w="9525">
              <a:solidFill>
                <a:srgbClr val="000000"/>
              </a:solidFill>
              <a:round/>
            </a:ln>
          </p:spPr>
        </p:cxnSp>
      </p:grpSp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419040" y="476280"/>
            <a:ext cx="7486200" cy="1209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Practical Ways to Show</a:t>
            </a:r>
            <a:r>
              <a:rPr lang="en-US" sz="40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Respect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2905200" y="2400480"/>
            <a:ext cx="5562360" cy="229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Showing respect can be done through active listening, recognizing achievements, and maintaining open, honest communication. It also involves valuing diverse perspectives and fostering inclusivity, which strengthens professional relationships and trust.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Benefits for Organizational</a:t>
            </a: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Medium"/>
                <a:ea typeface="Zalando Sans Expanded ExtraLight"/>
              </a:rPr>
              <a:t> Culture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942840" y="2305080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 culture grounded in respect and dignity encourages higher employee engagement and retention. It leads to improved morale, reduced workplace conflicts, and enhanced reputation, positioning the organization as a desirable place to work and grow.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4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25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217;p31"/>
          <p:cNvPicPr/>
          <p:nvPr/>
        </p:nvPicPr>
        <p:blipFill>
          <a:blip r:embed="rId2"/>
          <a:srcRect l="15215" r="12233"/>
          <a:stretch/>
        </p:blipFill>
        <p:spPr>
          <a:xfrm>
            <a:off x="6345000" y="0"/>
            <a:ext cx="279828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228600" y="295200"/>
            <a:ext cx="5324040" cy="1247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80000"/>
              </a:lnSpc>
              <a:buNone/>
              <a:tabLst>
                <a:tab pos="0" algn="l"/>
              </a:tabLst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Zalando Sans Expanded ExtraLight"/>
                <a:ea typeface="Zalando Sans Expanded ExtraLight"/>
              </a:rPr>
              <a:t>Conclusions</a:t>
            </a:r>
            <a:endParaRPr lang="fr-FR" sz="2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942840" y="2305080"/>
            <a:ext cx="4362120" cy="1914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Emphasizing roles alongside respect and dignity forms a foundation for professional excellence. Clear roles promote efficiency, while respect fosters positive relationships and a supportive culture. Together, they drive organizational success through collaboration, trust, and commitment.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29" name="Google Shape;220;p31"/>
          <p:cNvCxnSpPr/>
          <p:nvPr/>
        </p:nvCxnSpPr>
        <p:spPr>
          <a:xfrm flipH="1">
            <a:off x="0" y="1690560"/>
            <a:ext cx="6345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cxnSp>
        <p:nvCxnSpPr>
          <p:cNvPr id="130" name="Google Shape;221;p31"/>
          <p:cNvCxnSpPr/>
          <p:nvPr/>
        </p:nvCxnSpPr>
        <p:spPr>
          <a:xfrm>
            <a:off x="6345000" y="-18360"/>
            <a:ext cx="360" cy="522432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351;p41"/>
          <p:cNvGrpSpPr/>
          <p:nvPr/>
        </p:nvGrpSpPr>
        <p:grpSpPr>
          <a:xfrm>
            <a:off x="1524600" y="-18360"/>
            <a:ext cx="7680600" cy="5223960"/>
            <a:chOff x="1524600" y="-18360"/>
            <a:chExt cx="7680600" cy="5223960"/>
          </a:xfrm>
        </p:grpSpPr>
        <p:cxnSp>
          <p:nvCxnSpPr>
            <p:cNvPr id="132" name="Google Shape;352;p41"/>
            <p:cNvCxnSpPr/>
            <p:nvPr/>
          </p:nvCxnSpPr>
          <p:spPr>
            <a:xfrm>
              <a:off x="1536120" y="-18360"/>
              <a:ext cx="360" cy="522432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  <p:cxnSp>
          <p:nvCxnSpPr>
            <p:cNvPr id="133" name="Google Shape;353;p41"/>
            <p:cNvCxnSpPr/>
            <p:nvPr/>
          </p:nvCxnSpPr>
          <p:spPr>
            <a:xfrm flipH="1">
              <a:off x="1524600" y="3261600"/>
              <a:ext cx="7680960" cy="360"/>
            </a:xfrm>
            <a:prstGeom prst="straightConnector1">
              <a:avLst/>
            </a:prstGeom>
            <a:ln w="9525">
              <a:solidFill>
                <a:srgbClr val="FFFFFF"/>
              </a:solidFill>
              <a:round/>
            </a:ln>
          </p:spPr>
        </p:cxn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5543640" y="50400"/>
            <a:ext cx="3371400" cy="1920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700" b="0" u="none" strike="noStrike">
                <a:solidFill>
                  <a:schemeClr val="accent1"/>
                </a:solidFill>
                <a:effectLst/>
                <a:uFillTx/>
                <a:latin typeface="Zalando Sans Expanded ExtraLight"/>
                <a:ea typeface="Zalando Sans Expanded ExtraLight"/>
              </a:rPr>
              <a:t>THANK YOU</a:t>
            </a:r>
            <a:endParaRPr lang="fr-FR" sz="5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6143760" y="1943280"/>
            <a:ext cx="2771280" cy="1229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Do you have any questions?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youremail@freepik.com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+00 000 000 000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1"/>
                </a:solidFill>
                <a:effectLst/>
                <a:uFillTx/>
                <a:latin typeface="arial"/>
                <a:ea typeface="arial"/>
              </a:rPr>
              <a:t>yourwebsite.com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36" name="Google Shape;356;p41"/>
          <p:cNvGrpSpPr/>
          <p:nvPr/>
        </p:nvGrpSpPr>
        <p:grpSpPr>
          <a:xfrm>
            <a:off x="2075760" y="3628080"/>
            <a:ext cx="275760" cy="275760"/>
            <a:chOff x="2075760" y="3628080"/>
            <a:chExt cx="275760" cy="275760"/>
          </a:xfrm>
        </p:grpSpPr>
        <p:sp>
          <p:nvSpPr>
            <p:cNvPr id="137" name="Google Shape;357;p41"/>
            <p:cNvSpPr/>
            <p:nvPr/>
          </p:nvSpPr>
          <p:spPr>
            <a:xfrm>
              <a:off x="2075760" y="3628080"/>
              <a:ext cx="275760" cy="27576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275760"/>
                <a:gd name="textAreaBottom" fmla="*/ 276120 h 275760"/>
              </a:gdLst>
              <a:ahLst/>
              <a:cxnLst/>
              <a:rect l="textAreaLeft" t="textAreaTop" r="textAreaRight" b="textAreaBottom"/>
              <a:pathLst>
                <a:path w="6764" h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358;p41"/>
            <p:cNvSpPr/>
            <p:nvPr/>
          </p:nvSpPr>
          <p:spPr>
            <a:xfrm>
              <a:off x="2139840" y="3693600"/>
              <a:ext cx="146880" cy="144000"/>
            </a:xfrm>
            <a:custGeom>
              <a:avLst/>
              <a:gdLst>
                <a:gd name="textAreaLeft" fmla="*/ 0 w 146880"/>
                <a:gd name="textAreaRight" fmla="*/ 147240 w 146880"/>
                <a:gd name="textAreaTop" fmla="*/ 0 h 144000"/>
                <a:gd name="textAreaBottom" fmla="*/ 144360 h 144000"/>
              </a:gdLst>
              <a:ahLst/>
              <a:cxnLst/>
              <a:rect l="textAreaLeft" t="textAreaTop" r="textAreaRight" b="textAreaBottom"/>
              <a:pathLst>
                <a:path w="3607" h="3542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2000" bIns="72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359;p41"/>
            <p:cNvSpPr/>
            <p:nvPr/>
          </p:nvSpPr>
          <p:spPr>
            <a:xfrm>
              <a:off x="2269800" y="3663360"/>
              <a:ext cx="37440" cy="37080"/>
            </a:xfrm>
            <a:custGeom>
              <a:avLst/>
              <a:gdLst>
                <a:gd name="textAreaLeft" fmla="*/ 0 w 37440"/>
                <a:gd name="textAreaRight" fmla="*/ 37800 w 37440"/>
                <a:gd name="textAreaTop" fmla="*/ 0 h 37080"/>
                <a:gd name="textAreaBottom" fmla="*/ 37440 h 37080"/>
              </a:gdLst>
              <a:ahLst/>
              <a:cxnLst/>
              <a:rect l="textAreaLeft" t="textAreaTop" r="textAreaRight" b="textAreaBottom"/>
              <a:pathLst>
                <a:path w="929" h="918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720" bIns="18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0" name="Google Shape;360;p41"/>
          <p:cNvGrpSpPr/>
          <p:nvPr/>
        </p:nvGrpSpPr>
        <p:grpSpPr>
          <a:xfrm>
            <a:off x="2952000" y="3646800"/>
            <a:ext cx="266400" cy="237960"/>
            <a:chOff x="2952000" y="3646800"/>
            <a:chExt cx="266400" cy="237960"/>
          </a:xfrm>
        </p:grpSpPr>
        <p:sp>
          <p:nvSpPr>
            <p:cNvPr id="141" name="Google Shape;361;p41"/>
            <p:cNvSpPr/>
            <p:nvPr/>
          </p:nvSpPr>
          <p:spPr>
            <a:xfrm>
              <a:off x="2961360" y="3730680"/>
              <a:ext cx="60840" cy="154080"/>
            </a:xfrm>
            <a:custGeom>
              <a:avLst/>
              <a:gdLst>
                <a:gd name="textAreaLeft" fmla="*/ 0 w 60840"/>
                <a:gd name="textAreaRight" fmla="*/ 61200 w 6084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1502" h="3787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362;p41"/>
            <p:cNvSpPr/>
            <p:nvPr/>
          </p:nvSpPr>
          <p:spPr>
            <a:xfrm>
              <a:off x="2952000" y="3646800"/>
              <a:ext cx="70200" cy="70200"/>
            </a:xfrm>
            <a:custGeom>
              <a:avLst/>
              <a:gdLst>
                <a:gd name="textAreaLeft" fmla="*/ 0 w 70200"/>
                <a:gd name="textAreaRight" fmla="*/ 70560 w 70200"/>
                <a:gd name="textAreaTop" fmla="*/ 0 h 70200"/>
                <a:gd name="textAreaBottom" fmla="*/ 70560 h 70200"/>
              </a:gdLst>
              <a:ahLst/>
              <a:cxnLst/>
              <a:rect l="textAreaLeft" t="textAreaTop" r="textAreaRight" b="textAreaBottom"/>
              <a:pathLst>
                <a:path w="1728" h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363;p41"/>
            <p:cNvSpPr/>
            <p:nvPr/>
          </p:nvSpPr>
          <p:spPr>
            <a:xfrm>
              <a:off x="3054600" y="3730680"/>
              <a:ext cx="163800" cy="154080"/>
            </a:xfrm>
            <a:custGeom>
              <a:avLst/>
              <a:gdLst>
                <a:gd name="textAreaLeft" fmla="*/ 0 w 163800"/>
                <a:gd name="textAreaRight" fmla="*/ 164160 w 163800"/>
                <a:gd name="textAreaTop" fmla="*/ 0 h 154080"/>
                <a:gd name="textAreaBottom" fmla="*/ 154440 h 154080"/>
              </a:gdLst>
              <a:ahLst/>
              <a:cxnLst/>
              <a:rect l="textAreaLeft" t="textAreaTop" r="textAreaRight" b="textAreaBottom"/>
              <a:pathLst>
                <a:path w="4026" h="3787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7040" bIns="77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Google Shape;364;p41"/>
          <p:cNvSpPr/>
          <p:nvPr/>
        </p:nvSpPr>
        <p:spPr>
          <a:xfrm>
            <a:off x="1962000" y="4581360"/>
            <a:ext cx="41526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Please keep this slide for attribution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5" name="Google Shape;365;p41"/>
          <p:cNvSpPr/>
          <p:nvPr/>
        </p:nvSpPr>
        <p:spPr>
          <a:xfrm>
            <a:off x="3818880" y="3628800"/>
            <a:ext cx="268200" cy="273960"/>
          </a:xfrm>
          <a:custGeom>
            <a:avLst/>
            <a:gdLst>
              <a:gd name="textAreaLeft" fmla="*/ 0 w 268200"/>
              <a:gd name="textAreaRight" fmla="*/ 268560 w 268200"/>
              <a:gd name="textAreaTop" fmla="*/ 0 h 273960"/>
              <a:gd name="textAreaBottom" fmla="*/ 274320 h 273960"/>
            </a:gdLst>
            <a:ahLst/>
            <a:cxnLst/>
            <a:rect l="textAreaLeft" t="textAreaTop" r="textAreaRight" b="textAreaBottom"/>
            <a:pathLst>
              <a:path w="6712561" h="6860069">
                <a:moveTo>
                  <a:pt x="3994869" y="2904749"/>
                </a:moveTo>
                <a:lnTo>
                  <a:pt x="6493788" y="0"/>
                </a:lnTo>
                <a:lnTo>
                  <a:pt x="5901628" y="0"/>
                </a:lnTo>
                <a:lnTo>
                  <a:pt x="3731848" y="2522189"/>
                </a:lnTo>
                <a:lnTo>
                  <a:pt x="1998833" y="0"/>
                </a:lnTo>
                <a:lnTo>
                  <a:pt x="0" y="0"/>
                </a:lnTo>
                <a:lnTo>
                  <a:pt x="2620640" y="3813966"/>
                </a:lnTo>
                <a:lnTo>
                  <a:pt x="0" y="6860070"/>
                </a:lnTo>
                <a:lnTo>
                  <a:pt x="592216" y="6860070"/>
                </a:lnTo>
                <a:lnTo>
                  <a:pt x="2883548" y="4196581"/>
                </a:lnTo>
                <a:lnTo>
                  <a:pt x="4713728" y="6860070"/>
                </a:lnTo>
                <a:lnTo>
                  <a:pt x="6712561" y="6860070"/>
                </a:lnTo>
                <a:lnTo>
                  <a:pt x="3994757" y="2904749"/>
                </a:lnTo>
                <a:lnTo>
                  <a:pt x="3994925" y="2904749"/>
                </a:lnTo>
                <a:close/>
                <a:moveTo>
                  <a:pt x="3183768" y="3847528"/>
                </a:moveTo>
                <a:lnTo>
                  <a:pt x="2918230" y="3467765"/>
                </a:lnTo>
                <a:lnTo>
                  <a:pt x="805563" y="445770"/>
                </a:lnTo>
                <a:lnTo>
                  <a:pt x="1715115" y="445770"/>
                </a:lnTo>
                <a:lnTo>
                  <a:pt x="3420106" y="2884611"/>
                </a:lnTo>
                <a:lnTo>
                  <a:pt x="3685644" y="3264375"/>
                </a:lnTo>
                <a:lnTo>
                  <a:pt x="5901907" y="6434494"/>
                </a:lnTo>
                <a:lnTo>
                  <a:pt x="4992356" y="6434494"/>
                </a:lnTo>
                <a:lnTo>
                  <a:pt x="3183824" y="3847640"/>
                </a:lnTo>
                <a:lnTo>
                  <a:pt x="3183824" y="3847472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6" name="Google Shape;366;p41"/>
          <p:cNvSpPr/>
          <p:nvPr/>
        </p:nvSpPr>
        <p:spPr>
          <a:xfrm>
            <a:off x="466560" y="123840"/>
            <a:ext cx="618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Arial"/>
              </a:rPr>
              <a:t>2XXX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ior Defense by Slidesgo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9D5BA"/>
      </a:accent2>
      <a:accent3>
        <a:srgbClr val="4F5B4D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369</Words>
  <Application>Microsoft Office PowerPoint</Application>
  <PresentationFormat>On-screen Show (16:9)</PresentationFormat>
  <Paragraphs>30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Arial</vt:lpstr>
      <vt:lpstr>OpenSymbol</vt:lpstr>
      <vt:lpstr>Symbol</vt:lpstr>
      <vt:lpstr>Wingdings</vt:lpstr>
      <vt:lpstr>Zalando Sans Expanded ExtraLight</vt:lpstr>
      <vt:lpstr>Zalando Sans Expanded Medium</vt:lpstr>
      <vt:lpstr>Senior Defense by Slidesgo</vt:lpstr>
      <vt:lpstr>Slidesgo Final Pages</vt:lpstr>
      <vt:lpstr>Professional Roles</vt:lpstr>
      <vt:lpstr>Introduction</vt:lpstr>
      <vt:lpstr>Role in Professional Interactions</vt:lpstr>
      <vt:lpstr>Importance of Clear Roles</vt:lpstr>
      <vt:lpstr>Responsibilities and Expectations</vt:lpstr>
      <vt:lpstr>Impact on Team Dynamics</vt:lpstr>
      <vt:lpstr>Respect and Dignity in the Workplace</vt:lpstr>
      <vt:lpstr>Defining Respect and Dignity</vt:lpstr>
      <vt:lpstr>Practical Ways to Show Respect</vt:lpstr>
      <vt:lpstr>Benefits for Organizational Culture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Akash Sam</cp:lastModifiedBy>
  <cp:revision>1</cp:revision>
  <dcterms:modified xsi:type="dcterms:W3CDTF">2025-10-21T17:20:55Z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2025-10-21T17:14:24Z</dcterms:created>
  <dc:creator>Unknown Creator</dc:creator>
  <dc:description/>
  <dc:language>en-US</dc:language>
  <cp:lastModifiedBy>Unknown Creator</cp:lastModifiedBy>
  <dcterms:modified xsi:type="dcterms:W3CDTF">2025-10-21T17:14:24Z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